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5143500" cx="9144000"/>
  <p:notesSz cx="6858000" cy="9144000"/>
  <p:embeddedFontLst>
    <p:embeddedFont>
      <p:font typeface="Raleway"/>
      <p:regular r:id="rId39"/>
      <p:bold r:id="rId40"/>
      <p:italic r:id="rId41"/>
      <p:boldItalic r:id="rId42"/>
    </p:embeddedFont>
    <p:embeddedFont>
      <p:font typeface="Lato"/>
      <p:regular r:id="rId43"/>
      <p:bold r:id="rId44"/>
      <p:italic r:id="rId45"/>
      <p:boldItalic r:id="rId46"/>
    </p:embeddedFont>
    <p:embeddedFont>
      <p:font typeface="Roboto Mon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53236D-0283-4FBF-A39B-FDCD40228A13}">
  <a:tblStyle styleId="{5A53236D-0283-4FBF-A39B-FDCD40228A1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.fntdata"/><Relationship Id="rId42" Type="http://schemas.openxmlformats.org/officeDocument/2006/relationships/font" Target="fonts/Raleway-boldItalic.fntdata"/><Relationship Id="rId41" Type="http://schemas.openxmlformats.org/officeDocument/2006/relationships/font" Target="fonts/Raleway-italic.fntdata"/><Relationship Id="rId44" Type="http://schemas.openxmlformats.org/officeDocument/2006/relationships/font" Target="fonts/Lato-bold.fntdata"/><Relationship Id="rId43" Type="http://schemas.openxmlformats.org/officeDocument/2006/relationships/font" Target="fonts/Lato-regular.fntdata"/><Relationship Id="rId46" Type="http://schemas.openxmlformats.org/officeDocument/2006/relationships/font" Target="fonts/Lato-boldItalic.fntdata"/><Relationship Id="rId45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RobotoMono-bold.fntdata"/><Relationship Id="rId47" Type="http://schemas.openxmlformats.org/officeDocument/2006/relationships/font" Target="fonts/RobotoMono-regular.fntdata"/><Relationship Id="rId49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font" Target="fonts/Raleway-regular.fntdata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font" Target="fonts/RobotoMono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f8b692e5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f8b692e5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f8b692e5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f8b692e5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f8b692e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f8b692e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f8b692e5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f8b692e5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f8b692e5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f8b692e5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f8b692e5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f8b692e5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f8b692e5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f8b692e5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f8b692e5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f8b692e5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f8b692e5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f8b692e5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f8b692e5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f8b692e5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f8b692e5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f8b692e5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f8b692e5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ef8b692e5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f8b692e5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f8b692e5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f8b692e58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f8b692e58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f8b692e58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f8b692e58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f369933a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ef369933a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f369933a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f369933a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f369933a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ef369933a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f369933a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f369933a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f369933a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f369933a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f369933a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ef369933a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f8b692e58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ef8b692e58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f369933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ef369933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f8b692e5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ef8b692e5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625" y="15977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bg" sz="4500"/>
              <a:t>Опростяване на научни текстове</a:t>
            </a:r>
            <a:endParaRPr sz="4500"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bg" sz="1280"/>
              <a:t>Курсов проект</a:t>
            </a:r>
            <a:endParaRPr sz="128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08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080"/>
          </a:p>
        </p:txBody>
      </p:sp>
      <p:sp>
        <p:nvSpPr>
          <p:cNvPr id="165" name="Google Shape;165;p25"/>
          <p:cNvSpPr txBox="1"/>
          <p:nvPr/>
        </p:nvSpPr>
        <p:spPr>
          <a:xfrm>
            <a:off x="823925" y="4246100"/>
            <a:ext cx="6890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bg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Изготвил: Екатерина Хамбарлийска,</a:t>
            </a:r>
            <a:r>
              <a:rPr b="0" i="0" lang="bg" sz="13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bg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8MI3400767</a:t>
            </a:r>
            <a:endParaRPr b="0"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bg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Преподаватели:</a:t>
            </a:r>
            <a:r>
              <a:rPr lang="bg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проф. д-р Иван Койчев, проф. д-р Преслав Наков,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bg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гл. ас. Димитър Димитров, Алексис Датсерис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164900" y="89825"/>
            <a:ext cx="3000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bg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CLEF 2026 SimpleText Track</a:t>
            </a:r>
            <a:endParaRPr b="1" i="0" sz="13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bg"/>
              <a:t>Контекст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729450" y="2006775"/>
            <a:ext cx="7688700" cy="3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bg" sz="1800" u="sng">
                <a:solidFill>
                  <a:srgbClr val="000000"/>
                </a:solidFill>
              </a:rPr>
              <a:t>Тема</a:t>
            </a:r>
            <a:endParaRPr b="1" sz="1800"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bg" sz="1800">
                <a:solidFill>
                  <a:srgbClr val="000000"/>
                </a:solidFill>
              </a:rPr>
              <a:t>Опростяване на биомедицински текстове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bg" sz="1800" u="sng">
                <a:solidFill>
                  <a:srgbClr val="000000"/>
                </a:solidFill>
              </a:rPr>
              <a:t>Проблем</a:t>
            </a:r>
            <a:endParaRPr b="1" sz="1800" u="sng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bg" sz="1800">
                <a:solidFill>
                  <a:srgbClr val="000000"/>
                </a:solidFill>
              </a:rPr>
              <a:t>В интернет има много неточна и подвеждаща информация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bg" sz="1800">
                <a:solidFill>
                  <a:srgbClr val="000000"/>
                </a:solidFill>
              </a:rPr>
              <a:t>Научните източници са най-надеждни, но  са трудни за разбиране  и използват сложен език и термини</a:t>
            </a:r>
            <a:endParaRPr sz="18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 sz="1600" u="sng"/>
          </a:p>
        </p:txBody>
      </p:sp>
      <p:pic>
        <p:nvPicPr>
          <p:cNvPr id="173" name="Google Shape;1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3725" y="0"/>
            <a:ext cx="1420275" cy="17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bg"/>
              <a:t>Изследователски проблем</a:t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729450" y="2078875"/>
            <a:ext cx="76887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bg" sz="1800">
                <a:solidFill>
                  <a:srgbClr val="222222"/>
                </a:solidFill>
              </a:rPr>
              <a:t>Постигнат е напредък чрез LLM-s, но остават президвикателства: </a:t>
            </a:r>
            <a:endParaRPr sz="1800">
              <a:solidFill>
                <a:srgbClr val="22222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bg" sz="1800">
                <a:solidFill>
                  <a:srgbClr val="222222"/>
                </a:solidFill>
              </a:rPr>
              <a:t>балансиране между простота и точност</a:t>
            </a:r>
            <a:endParaRPr sz="1800">
              <a:solidFill>
                <a:srgbClr val="22222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bg" sz="1800">
                <a:solidFill>
                  <a:srgbClr val="222222"/>
                </a:solidFill>
              </a:rPr>
              <a:t> гъста  техническа терминология</a:t>
            </a:r>
            <a:endParaRPr sz="1800">
              <a:solidFill>
                <a:srgbClr val="22222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bg" sz="1800">
                <a:solidFill>
                  <a:srgbClr val="222222"/>
                </a:solidFill>
              </a:rPr>
              <a:t>поддържане на логически поток</a:t>
            </a:r>
            <a:endParaRPr sz="1800">
              <a:solidFill>
                <a:srgbClr val="22222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bg" sz="1800">
                <a:solidFill>
                  <a:srgbClr val="222222"/>
                </a:solidFill>
              </a:rPr>
              <a:t>изкривяване на смисъла</a:t>
            </a:r>
            <a:endParaRPr sz="1800">
              <a:solidFill>
                <a:srgbClr val="22222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bg" sz="1800">
                <a:solidFill>
                  <a:srgbClr val="222222"/>
                </a:solidFill>
              </a:rPr>
              <a:t>риск от халюцинации</a:t>
            </a:r>
            <a:endParaRPr sz="180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bg"/>
              <a:t>Фокус на проекта</a:t>
            </a:r>
            <a:endParaRPr/>
          </a:p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729450" y="2078875"/>
            <a:ext cx="7569900" cy="29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➔"/>
            </a:pPr>
            <a:r>
              <a:rPr b="1" lang="bg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1.1</a:t>
            </a:r>
            <a:r>
              <a:rPr b="1" lang="bg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300"/>
              <a:buNone/>
            </a:pPr>
            <a:r>
              <a:rPr lang="bg" sz="2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Sentence-level Scientific Text Simplification</a:t>
            </a:r>
            <a:endParaRPr sz="20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spcBef>
                <a:spcPts val="11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Calibri"/>
              <a:buChar char="➔"/>
            </a:pPr>
            <a:r>
              <a:rPr b="1" lang="bg" sz="3116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Task 1.2</a:t>
            </a:r>
            <a:endParaRPr b="1" sz="20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1700"/>
              </a:spcBef>
              <a:spcAft>
                <a:spcPts val="0"/>
              </a:spcAft>
              <a:buNone/>
            </a:pPr>
            <a:r>
              <a:rPr lang="bg" sz="2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Document-level Scientific Text Simplification</a:t>
            </a:r>
            <a:endParaRPr sz="49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bg"/>
              <a:t>Данни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27650" y="2028963"/>
            <a:ext cx="76887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❖"/>
            </a:pPr>
            <a:r>
              <a:rPr lang="bg" sz="6000">
                <a:solidFill>
                  <a:srgbClr val="222222"/>
                </a:solidFill>
              </a:rPr>
              <a:t>Cochrane-auto  корпус, който съдържа двойки от сложни биомедицински текстове и опростени версии</a:t>
            </a:r>
            <a:endParaRPr sz="6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</p:txBody>
      </p:sp>
      <p:graphicFrame>
        <p:nvGraphicFramePr>
          <p:cNvPr id="192" name="Google Shape;192;p29"/>
          <p:cNvGraphicFramePr/>
          <p:nvPr/>
        </p:nvGraphicFramePr>
        <p:xfrm>
          <a:off x="435250" y="338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{5A53236D-0283-4FBF-A39B-FDCD40228A13}</a:tableStyleId>
              </a:tblPr>
              <a:tblGrid>
                <a:gridCol w="1087250"/>
                <a:gridCol w="1221075"/>
              </a:tblGrid>
              <a:tr h="460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 u="none" cap="none" strike="noStrike">
                          <a:solidFill>
                            <a:schemeClr val="dk1"/>
                          </a:solidFill>
                        </a:rPr>
                        <a:t>train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 u="none" cap="none" strike="noStrike">
                          <a:solidFill>
                            <a:schemeClr val="dk1"/>
                          </a:solidFill>
                        </a:rPr>
                        <a:t>11 510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1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 u="none" cap="none" strike="noStrike">
                          <a:solidFill>
                            <a:schemeClr val="dk1"/>
                          </a:solidFill>
                        </a:rPr>
                        <a:t>validation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 u="none" cap="none" strike="noStrike">
                          <a:solidFill>
                            <a:schemeClr val="dk1"/>
                          </a:solidFill>
                        </a:rPr>
                        <a:t>1697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 u="none" cap="none" strike="noStrike">
                          <a:solidFill>
                            <a:schemeClr val="dk1"/>
                          </a:solidFill>
                        </a:rPr>
                        <a:t>test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 u="none" cap="none" strike="noStrike">
                          <a:solidFill>
                            <a:schemeClr val="dk1"/>
                          </a:solidFill>
                        </a:rPr>
                        <a:t>1512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3" name="Google Shape;193;p29"/>
          <p:cNvSpPr txBox="1"/>
          <p:nvPr/>
        </p:nvSpPr>
        <p:spPr>
          <a:xfrm>
            <a:off x="435313" y="2843761"/>
            <a:ext cx="23082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bg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Sentence Pairs</a:t>
            </a:r>
            <a:endParaRPr b="1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4" name="Google Shape;194;p29"/>
          <p:cNvGraphicFramePr/>
          <p:nvPr/>
        </p:nvGraphicFramePr>
        <p:xfrm>
          <a:off x="6448750" y="338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{5A53236D-0283-4FBF-A39B-FDCD40228A13}</a:tableStyleId>
              </a:tblPr>
              <a:tblGrid>
                <a:gridCol w="1097850"/>
                <a:gridCol w="1097850"/>
              </a:tblGrid>
              <a:tr h="460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 u="none" cap="none" strike="noStrike">
                          <a:solidFill>
                            <a:schemeClr val="accent3"/>
                          </a:solidFill>
                        </a:rPr>
                        <a:t>train</a:t>
                      </a:r>
                      <a:endParaRPr b="1" sz="15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>
                          <a:solidFill>
                            <a:schemeClr val="accent3"/>
                          </a:solidFill>
                        </a:rPr>
                        <a:t>849</a:t>
                      </a:r>
                      <a:endParaRPr b="1" sz="15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1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 u="none" cap="none" strike="noStrike">
                          <a:solidFill>
                            <a:schemeClr val="accent3"/>
                          </a:solidFill>
                        </a:rPr>
                        <a:t>validation</a:t>
                      </a:r>
                      <a:endParaRPr b="1" sz="15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>
                          <a:solidFill>
                            <a:schemeClr val="accent3"/>
                          </a:solidFill>
                        </a:rPr>
                        <a:t>119</a:t>
                      </a:r>
                      <a:endParaRPr b="1" sz="15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 u="none" cap="none" strike="noStrike">
                          <a:solidFill>
                            <a:schemeClr val="accent3"/>
                          </a:solidFill>
                        </a:rPr>
                        <a:t>test</a:t>
                      </a:r>
                      <a:endParaRPr b="1" sz="15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>
                          <a:solidFill>
                            <a:schemeClr val="accent3"/>
                          </a:solidFill>
                        </a:rPr>
                        <a:t>117</a:t>
                      </a:r>
                      <a:endParaRPr b="1" sz="15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5" name="Google Shape;195;p29"/>
          <p:cNvSpPr txBox="1"/>
          <p:nvPr/>
        </p:nvSpPr>
        <p:spPr>
          <a:xfrm>
            <a:off x="6448750" y="2832825"/>
            <a:ext cx="2195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bg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Document Pairs</a:t>
            </a:r>
            <a:endParaRPr b="1" i="0" sz="1500" u="none" cap="none" strike="noStrike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6" name="Google Shape;196;p29"/>
          <p:cNvGraphicFramePr/>
          <p:nvPr/>
        </p:nvGraphicFramePr>
        <p:xfrm>
          <a:off x="2743575" y="338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{5A53236D-0283-4FBF-A39B-FDCD40228A13}</a:tableStyleId>
              </a:tblPr>
              <a:tblGrid>
                <a:gridCol w="1097850"/>
                <a:gridCol w="1097850"/>
              </a:tblGrid>
              <a:tr h="460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 u="none" cap="none" strike="noStrike">
                          <a:solidFill>
                            <a:srgbClr val="38761D"/>
                          </a:solidFill>
                        </a:rPr>
                        <a:t>train</a:t>
                      </a:r>
                      <a:endParaRPr b="1" sz="15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>
                          <a:solidFill>
                            <a:srgbClr val="38761D"/>
                          </a:solidFill>
                        </a:rPr>
                        <a:t>6742</a:t>
                      </a:r>
                      <a:endParaRPr b="1" sz="15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1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 u="none" cap="none" strike="noStrike">
                          <a:solidFill>
                            <a:srgbClr val="38761D"/>
                          </a:solidFill>
                        </a:rPr>
                        <a:t>validation</a:t>
                      </a:r>
                      <a:endParaRPr b="1" sz="15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>
                          <a:solidFill>
                            <a:srgbClr val="38761D"/>
                          </a:solidFill>
                        </a:rPr>
                        <a:t>984</a:t>
                      </a:r>
                      <a:endParaRPr b="1" sz="15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 u="none" cap="none" strike="noStrike">
                          <a:solidFill>
                            <a:srgbClr val="38761D"/>
                          </a:solidFill>
                        </a:rPr>
                        <a:t>test</a:t>
                      </a:r>
                      <a:endParaRPr b="1" sz="15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bg" sz="1500">
                          <a:solidFill>
                            <a:srgbClr val="38761D"/>
                          </a:solidFill>
                        </a:rPr>
                        <a:t>892</a:t>
                      </a:r>
                      <a:endParaRPr b="1" sz="1500" u="none" cap="none" strike="noStrike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7" name="Google Shape;197;p29"/>
          <p:cNvSpPr txBox="1"/>
          <p:nvPr/>
        </p:nvSpPr>
        <p:spPr>
          <a:xfrm>
            <a:off x="2743575" y="2832825"/>
            <a:ext cx="2195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bg" sz="15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Sentence </a:t>
            </a:r>
            <a:r>
              <a:rPr b="1" i="0" lang="bg" sz="1500" u="none" cap="none" strike="noStrike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Pairs After Cleaning</a:t>
            </a:r>
            <a:endParaRPr b="1" i="0" sz="1500" u="none" cap="none" strike="noStrike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bg">
                <a:solidFill>
                  <a:schemeClr val="dk1"/>
                </a:solidFill>
              </a:rPr>
              <a:t>Структура на данните 1.1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729450" y="2104150"/>
            <a:ext cx="6882000" cy="20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4178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❖"/>
            </a:pPr>
            <a:r>
              <a:rPr lang="bg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CSV формат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78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❖"/>
            </a:pPr>
            <a:r>
              <a:rPr lang="bg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Записите  съдържа изречение, опростената версия, контекстs и етикет, който описва типа трансформация: </a:t>
            </a:r>
            <a:r>
              <a:rPr b="1" lang="bg" sz="23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rephrase</a:t>
            </a:r>
            <a:r>
              <a:rPr lang="bg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bg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bg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bg" sz="23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r>
              <a:rPr lang="bg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bg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</a:t>
            </a:r>
            <a:r>
              <a:rPr lang="bg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или </a:t>
            </a:r>
            <a:r>
              <a:rPr b="1" lang="bg" sz="23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r>
              <a:rPr lang="bg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307692"/>
              <a:buNone/>
            </a:pPr>
            <a:r>
              <a:t/>
            </a:r>
            <a:endParaRPr/>
          </a:p>
        </p:txBody>
      </p:sp>
      <p:pic>
        <p:nvPicPr>
          <p:cNvPr id="204" name="Google Shape;204;p30" title="Екранна снимка 2026-05-05 14093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475" y="3683175"/>
            <a:ext cx="4442534" cy="6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0" title="Екранна снимка 2026-05-05 14110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950" y="4442753"/>
            <a:ext cx="8742649" cy="591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bg">
                <a:solidFill>
                  <a:schemeClr val="accent3"/>
                </a:solidFill>
              </a:rPr>
              <a:t>Структура на данните 1.2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31" title="document_average_sentence_leng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25" y="2272800"/>
            <a:ext cx="4866724" cy="273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1"/>
          <p:cNvPicPr preferRelativeResize="0"/>
          <p:nvPr/>
        </p:nvPicPr>
        <p:blipFill rotWithShape="1">
          <a:blip r:embed="rId4">
            <a:alphaModFix/>
          </a:blip>
          <a:srcRect b="4311" l="0" r="60568" t="3769"/>
          <a:stretch/>
        </p:blipFill>
        <p:spPr>
          <a:xfrm>
            <a:off x="5186800" y="510875"/>
            <a:ext cx="3957200" cy="46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bg"/>
              <a:t>Оценяване</a:t>
            </a:r>
            <a:endParaRPr/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b="1" lang="bg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SARI</a:t>
            </a:r>
            <a:r>
              <a:rPr lang="bg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измерва качеството на опростяването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b="1" lang="bg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BLEU</a:t>
            </a:r>
            <a:r>
              <a:rPr lang="bg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сравнява с референтен текст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b="1" lang="bg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BERTScore</a:t>
            </a:r>
            <a:r>
              <a:rPr lang="bg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измерва семантична близост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Подходи и резултати към задача 1.1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LLM базов модел Llama 3.1 8B </a:t>
            </a:r>
            <a:endParaRPr/>
          </a:p>
        </p:txBody>
      </p:sp>
      <p:sp>
        <p:nvSpPr>
          <p:cNvPr id="229" name="Google Shape;229;p34"/>
          <p:cNvSpPr txBox="1"/>
          <p:nvPr>
            <p:ph idx="1" type="body"/>
          </p:nvPr>
        </p:nvSpPr>
        <p:spPr>
          <a:xfrm>
            <a:off x="729450" y="2078875"/>
            <a:ext cx="78603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bg" sz="1100"/>
              <a:t>с</a:t>
            </a:r>
            <a:r>
              <a:rPr lang="bg" sz="1100"/>
              <a:t>ъвременен свободно достъпен голям езиков decoder-only модел с добри резултати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bg" sz="1100"/>
              <a:t>отправна точка за сравнение с дообучените модели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bg" sz="1100"/>
              <a:t>на модела се подава инструкция (prompt)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bg" sz="1100"/>
              <a:t>локално изпълнение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bg" sz="1100"/>
              <a:t>настройки: </a:t>
            </a:r>
            <a:endParaRPr sz="1100"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●"/>
            </a:pPr>
            <a:r>
              <a:rPr lang="bg" sz="11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max_new_tokens = 128 </a:t>
            </a:r>
            <a:endParaRPr sz="1100">
              <a:solidFill>
                <a:schemeClr val="accent3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●"/>
            </a:pPr>
            <a:r>
              <a:rPr lang="bg" sz="11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temperature = 0.2</a:t>
            </a:r>
            <a:endParaRPr sz="1100">
              <a:solidFill>
                <a:schemeClr val="accent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Roboto Mono"/>
              <a:buChar char="●"/>
            </a:pPr>
            <a:r>
              <a:rPr lang="bg" sz="11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top_p = 0.9</a:t>
            </a:r>
            <a:endParaRPr sz="1100">
              <a:solidFill>
                <a:schemeClr val="accent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bg" sz="1100"/>
              <a:t>резултати:</a:t>
            </a:r>
            <a:endParaRPr sz="1100"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bg" sz="1200">
                <a:solidFill>
                  <a:schemeClr val="dk1"/>
                </a:solidFill>
              </a:rPr>
              <a:t>SARI - 28.25</a:t>
            </a:r>
            <a:endParaRPr b="1" sz="1200">
              <a:solidFill>
                <a:schemeClr val="dk1"/>
              </a:solidFill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bg" sz="1200">
                <a:solidFill>
                  <a:schemeClr val="dk1"/>
                </a:solidFill>
              </a:rPr>
              <a:t>BLEU - 3.60</a:t>
            </a:r>
            <a:endParaRPr b="1" sz="1200">
              <a:solidFill>
                <a:schemeClr val="dk1"/>
              </a:solidFill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bg" sz="1200">
                <a:solidFill>
                  <a:schemeClr val="dk1"/>
                </a:solidFill>
              </a:rPr>
              <a:t>BERTScore - 0.897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Flan-T5-base </a:t>
            </a:r>
            <a:endParaRPr/>
          </a:p>
        </p:txBody>
      </p:sp>
      <p:sp>
        <p:nvSpPr>
          <p:cNvPr id="235" name="Google Shape;235;p35"/>
          <p:cNvSpPr txBox="1"/>
          <p:nvPr>
            <p:ph idx="1" type="body"/>
          </p:nvPr>
        </p:nvSpPr>
        <p:spPr>
          <a:xfrm>
            <a:off x="729450" y="1813150"/>
            <a:ext cx="7932300" cy="33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4000"/>
              <a:t>предварително обучен модел за преобразуване на текст в текст </a:t>
            </a:r>
            <a:endParaRPr sz="4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4000"/>
              <a:t>на модела се подава инструкция (prompt)</a:t>
            </a:r>
            <a:endParaRPr sz="4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4000"/>
              <a:t>настройки:</a:t>
            </a:r>
            <a:endParaRPr sz="4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Char char="➢"/>
            </a:pPr>
            <a:r>
              <a:rPr lang="bg" sz="4000">
                <a:solidFill>
                  <a:schemeClr val="accent3"/>
                </a:solidFill>
              </a:rPr>
              <a:t>моделът беше обучен за максимум 5 епохи с learning rate 3e-5</a:t>
            </a:r>
            <a:endParaRPr sz="4000">
              <a:solidFill>
                <a:schemeClr val="accent3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Char char="➢"/>
            </a:pPr>
            <a:r>
              <a:rPr lang="bg" sz="4000">
                <a:solidFill>
                  <a:schemeClr val="accent3"/>
                </a:solidFill>
              </a:rPr>
              <a:t>weight_decay = 0.01 като регуляризация</a:t>
            </a:r>
            <a:endParaRPr sz="4000">
              <a:solidFill>
                <a:schemeClr val="accent3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Char char="➢"/>
            </a:pPr>
            <a:r>
              <a:rPr lang="bg" sz="4000">
                <a:solidFill>
                  <a:schemeClr val="accent3"/>
                </a:solidFill>
              </a:rPr>
              <a:t>най-добрият модел се избира според validation loss, като се запазва checkpoint-ът с най-ниска стойност на загубата</a:t>
            </a:r>
            <a:endParaRPr sz="4000">
              <a:solidFill>
                <a:schemeClr val="accent3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Char char="➢"/>
            </a:pPr>
            <a:r>
              <a:rPr lang="bg" sz="4000">
                <a:solidFill>
                  <a:schemeClr val="accent3"/>
                </a:solidFill>
              </a:rPr>
              <a:t> early stopping с patience = 2</a:t>
            </a:r>
            <a:endParaRPr sz="4000">
              <a:solidFill>
                <a:schemeClr val="accent3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accent3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4000"/>
              <a:t>резултати:</a:t>
            </a:r>
            <a:endParaRPr sz="4000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4800">
                <a:solidFill>
                  <a:schemeClr val="dk1"/>
                </a:solidFill>
              </a:rPr>
              <a:t>SARI - 26.86</a:t>
            </a:r>
            <a:endParaRPr b="1" sz="4800">
              <a:solidFill>
                <a:schemeClr val="dk1"/>
              </a:solidFill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4800">
                <a:solidFill>
                  <a:schemeClr val="dk1"/>
                </a:solidFill>
              </a:rPr>
              <a:t>BLEU - 36.57</a:t>
            </a:r>
            <a:endParaRPr b="1" sz="4800">
              <a:solidFill>
                <a:schemeClr val="dk1"/>
              </a:solidFill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4800">
                <a:solidFill>
                  <a:schemeClr val="dk1"/>
                </a:solidFill>
              </a:rPr>
              <a:t>BERTScore - 0.935  </a:t>
            </a:r>
            <a:endParaRPr b="1"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4000"/>
              <a:t>резултати с опростени инструкции:</a:t>
            </a:r>
            <a:endParaRPr sz="4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t/>
            </a:r>
            <a:endParaRPr sz="40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4800">
                <a:solidFill>
                  <a:schemeClr val="dk1"/>
                </a:solidFill>
              </a:rPr>
              <a:t>SARI - 27.217</a:t>
            </a:r>
            <a:endParaRPr b="1" sz="48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4800">
                <a:solidFill>
                  <a:schemeClr val="dk1"/>
                </a:solidFill>
              </a:rPr>
              <a:t>BLEU - 35.144</a:t>
            </a:r>
            <a:endParaRPr b="1" sz="48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4800">
                <a:solidFill>
                  <a:schemeClr val="dk1"/>
                </a:solidFill>
              </a:rPr>
              <a:t>BERTScore - 0.930</a:t>
            </a:r>
            <a:endParaRPr b="1"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BioBART</a:t>
            </a:r>
            <a:endParaRPr/>
          </a:p>
        </p:txBody>
      </p:sp>
      <p:sp>
        <p:nvSpPr>
          <p:cNvPr id="241" name="Google Shape;241;p36"/>
          <p:cNvSpPr txBox="1"/>
          <p:nvPr>
            <p:ph idx="1" type="body"/>
          </p:nvPr>
        </p:nvSpPr>
        <p:spPr>
          <a:xfrm>
            <a:off x="729450" y="1783775"/>
            <a:ext cx="8310600" cy="33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29289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3115"/>
              <a:t>предварително обучен модел, адаптиран към биомедицински текстове</a:t>
            </a:r>
            <a:endParaRPr sz="3115"/>
          </a:p>
          <a:p>
            <a:pPr indent="-29289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3115"/>
              <a:t>на модела се подава инструкция (prompt)</a:t>
            </a:r>
            <a:endParaRPr sz="3115"/>
          </a:p>
          <a:p>
            <a:pPr indent="-29289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3115"/>
              <a:t>настройки:</a:t>
            </a:r>
            <a:endParaRPr sz="3115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50"/>
          </a:p>
          <a:p>
            <a:pPr indent="-291544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Char char="➢"/>
            </a:pPr>
            <a:r>
              <a:rPr lang="bg" sz="3050">
                <a:solidFill>
                  <a:schemeClr val="accent3"/>
                </a:solidFill>
              </a:rPr>
              <a:t>моделът беше обучен за максимум 5 епохи с learning rate 3e-5</a:t>
            </a:r>
            <a:endParaRPr sz="3050">
              <a:solidFill>
                <a:schemeClr val="accent3"/>
              </a:solidFill>
            </a:endParaRPr>
          </a:p>
          <a:p>
            <a:pPr indent="-291544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Char char="➢"/>
            </a:pPr>
            <a:r>
              <a:rPr lang="bg" sz="3050">
                <a:solidFill>
                  <a:schemeClr val="accent3"/>
                </a:solidFill>
              </a:rPr>
              <a:t>weight_decay = 0.01 като регуляризация</a:t>
            </a:r>
            <a:endParaRPr sz="3050">
              <a:solidFill>
                <a:schemeClr val="accent3"/>
              </a:solidFill>
            </a:endParaRPr>
          </a:p>
          <a:p>
            <a:pPr indent="-291544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Char char="➢"/>
            </a:pPr>
            <a:r>
              <a:rPr lang="bg" sz="3050">
                <a:solidFill>
                  <a:schemeClr val="accent3"/>
                </a:solidFill>
              </a:rPr>
              <a:t> early stopping с patience = 2</a:t>
            </a:r>
            <a:endParaRPr sz="3050">
              <a:solidFill>
                <a:schemeClr val="accent3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3"/>
              </a:solidFill>
            </a:endParaRPr>
          </a:p>
          <a:p>
            <a:pPr indent="-29154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3050"/>
              <a:t>резултати:</a:t>
            </a:r>
            <a:endParaRPr sz="3050"/>
          </a:p>
          <a:p>
            <a:pPr indent="-303927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3650">
                <a:solidFill>
                  <a:schemeClr val="dk1"/>
                </a:solidFill>
              </a:rPr>
              <a:t>SARI - </a:t>
            </a:r>
            <a:r>
              <a:rPr b="1" lang="bg" sz="3650">
                <a:solidFill>
                  <a:schemeClr val="dk1"/>
                </a:solidFill>
              </a:rPr>
              <a:t>31.86</a:t>
            </a:r>
            <a:endParaRPr b="1" sz="3650">
              <a:solidFill>
                <a:schemeClr val="dk1"/>
              </a:solidFill>
            </a:endParaRPr>
          </a:p>
          <a:p>
            <a:pPr indent="-303927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3650">
                <a:solidFill>
                  <a:schemeClr val="dk1"/>
                </a:solidFill>
              </a:rPr>
              <a:t>BLEU - </a:t>
            </a:r>
            <a:r>
              <a:rPr b="1" lang="bg" sz="3650">
                <a:solidFill>
                  <a:schemeClr val="dk1"/>
                </a:solidFill>
              </a:rPr>
              <a:t>30.91</a:t>
            </a:r>
            <a:endParaRPr b="1" sz="3650">
              <a:solidFill>
                <a:schemeClr val="dk1"/>
              </a:solidFill>
            </a:endParaRPr>
          </a:p>
          <a:p>
            <a:pPr indent="-303927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3650">
                <a:solidFill>
                  <a:schemeClr val="dk1"/>
                </a:solidFill>
              </a:rPr>
              <a:t>BERTScore - </a:t>
            </a:r>
            <a:r>
              <a:rPr b="1" lang="bg" sz="3650">
                <a:solidFill>
                  <a:schemeClr val="dk1"/>
                </a:solidFill>
              </a:rPr>
              <a:t>0.932</a:t>
            </a:r>
            <a:endParaRPr b="1" sz="36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50">
              <a:solidFill>
                <a:schemeClr val="dk1"/>
              </a:solidFill>
            </a:endParaRPr>
          </a:p>
          <a:p>
            <a:pPr indent="-29154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3050"/>
              <a:t>резултати с контекст:</a:t>
            </a:r>
            <a:endParaRPr sz="3050"/>
          </a:p>
          <a:p>
            <a:pPr indent="-30392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3650">
                <a:solidFill>
                  <a:schemeClr val="dk1"/>
                </a:solidFill>
              </a:rPr>
              <a:t>SARI - 30.484</a:t>
            </a:r>
            <a:endParaRPr b="1" sz="3650">
              <a:solidFill>
                <a:schemeClr val="dk1"/>
              </a:solidFill>
            </a:endParaRPr>
          </a:p>
          <a:p>
            <a:pPr indent="-30392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3650">
                <a:solidFill>
                  <a:schemeClr val="dk1"/>
                </a:solidFill>
              </a:rPr>
              <a:t>BLEU - 32.967</a:t>
            </a:r>
            <a:endParaRPr b="1" sz="3650">
              <a:solidFill>
                <a:schemeClr val="dk1"/>
              </a:solidFill>
            </a:endParaRPr>
          </a:p>
          <a:p>
            <a:pPr indent="-30392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3650">
                <a:solidFill>
                  <a:schemeClr val="dk1"/>
                </a:solidFill>
              </a:rPr>
              <a:t>BERTScore - 0.928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Многоетапен подход с класификация на операции</a:t>
            </a:r>
            <a:endParaRPr/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729450" y="2151350"/>
            <a:ext cx="7932300" cy="29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964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1850"/>
              <a:t>класификация, базирана на PubMedBERT</a:t>
            </a:r>
            <a:endParaRPr sz="1850"/>
          </a:p>
          <a:p>
            <a:pPr indent="-31964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1850"/>
              <a:t>предсказанието определя начина на обработка</a:t>
            </a:r>
            <a:endParaRPr sz="1850"/>
          </a:p>
          <a:p>
            <a:pPr indent="-31964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1850"/>
              <a:t>ползваме BioBART за класове rephrase и split</a:t>
            </a:r>
            <a:endParaRPr sz="1850"/>
          </a:p>
          <a:p>
            <a:pPr indent="-31964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1850"/>
              <a:t>празен низ за клас delete</a:t>
            </a:r>
            <a:endParaRPr sz="1850"/>
          </a:p>
          <a:p>
            <a:pPr indent="-31964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1850"/>
              <a:t>не променяме изречението за клас ignore </a:t>
            </a:r>
            <a:endParaRPr sz="185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accent3"/>
              </a:solidFill>
            </a:endParaRPr>
          </a:p>
          <a:p>
            <a:pPr indent="-31964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bg" sz="1850"/>
              <a:t>резултати:</a:t>
            </a:r>
            <a:endParaRPr sz="1850"/>
          </a:p>
          <a:p>
            <a:pPr indent="-322104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1900">
                <a:solidFill>
                  <a:schemeClr val="dk1"/>
                </a:solidFill>
              </a:rPr>
              <a:t>SARI - 27.01</a:t>
            </a:r>
            <a:endParaRPr b="1" sz="1900">
              <a:solidFill>
                <a:schemeClr val="dk1"/>
              </a:solidFill>
            </a:endParaRPr>
          </a:p>
          <a:p>
            <a:pPr indent="-322104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1900">
                <a:solidFill>
                  <a:schemeClr val="dk1"/>
                </a:solidFill>
              </a:rPr>
              <a:t>BLEU - </a:t>
            </a:r>
            <a:r>
              <a:rPr b="1" lang="bg" sz="1900">
                <a:solidFill>
                  <a:schemeClr val="dk1"/>
                </a:solidFill>
              </a:rPr>
              <a:t>22.20</a:t>
            </a:r>
            <a:endParaRPr b="1" sz="1900">
              <a:solidFill>
                <a:schemeClr val="dk1"/>
              </a:solidFill>
            </a:endParaRPr>
          </a:p>
          <a:p>
            <a:pPr indent="-322104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b="1" lang="bg" sz="1900">
                <a:solidFill>
                  <a:schemeClr val="dk1"/>
                </a:solidFill>
              </a:rPr>
              <a:t>BERTScore - 0.932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Многоетапен подход с истински етикети</a:t>
            </a:r>
            <a:endParaRPr/>
          </a:p>
        </p:txBody>
      </p:sp>
      <p:sp>
        <p:nvSpPr>
          <p:cNvPr id="253" name="Google Shape;253;p38"/>
          <p:cNvSpPr txBox="1"/>
          <p:nvPr>
            <p:ph idx="1" type="body"/>
          </p:nvPr>
        </p:nvSpPr>
        <p:spPr>
          <a:xfrm>
            <a:off x="729450" y="1991600"/>
            <a:ext cx="7932300" cy="31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-"/>
            </a:pPr>
            <a:r>
              <a:rPr lang="bg" sz="1250"/>
              <a:t>класификация, базирана на PubMedBERT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-"/>
            </a:pPr>
            <a:r>
              <a:rPr lang="bg" sz="1250"/>
              <a:t>ползваме BioBART за класове rephrase и split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-"/>
            </a:pPr>
            <a:r>
              <a:rPr lang="bg" sz="1250"/>
              <a:t>празен низ за клас delete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-"/>
            </a:pPr>
            <a:r>
              <a:rPr lang="bg" sz="1250"/>
              <a:t>не променяме изречението за клас ignore </a:t>
            </a:r>
            <a:endParaRPr sz="1250">
              <a:solidFill>
                <a:schemeClr val="accent3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-"/>
            </a:pPr>
            <a:r>
              <a:rPr lang="bg" sz="1250"/>
              <a:t>резултати:</a:t>
            </a:r>
            <a:endParaRPr sz="1250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bg" sz="1500">
                <a:solidFill>
                  <a:schemeClr val="dk1"/>
                </a:solidFill>
              </a:rPr>
              <a:t>SARI -</a:t>
            </a:r>
            <a:r>
              <a:rPr b="1" lang="bg" sz="1500">
                <a:solidFill>
                  <a:schemeClr val="dk1"/>
                </a:solidFill>
              </a:rPr>
              <a:t> 31.39 </a:t>
            </a:r>
            <a:endParaRPr b="1" sz="1500">
              <a:solidFill>
                <a:schemeClr val="dk1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bg" sz="1500">
                <a:solidFill>
                  <a:schemeClr val="dk1"/>
                </a:solidFill>
              </a:rPr>
              <a:t>BLEU - </a:t>
            </a:r>
            <a:r>
              <a:rPr b="1" lang="bg" sz="1500">
                <a:solidFill>
                  <a:schemeClr val="dk1"/>
                </a:solidFill>
              </a:rPr>
              <a:t>34.69</a:t>
            </a:r>
            <a:endParaRPr b="1" sz="1500">
              <a:solidFill>
                <a:schemeClr val="dk1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bg" sz="1500">
                <a:solidFill>
                  <a:schemeClr val="dk1"/>
                </a:solidFill>
              </a:rPr>
              <a:t>BERTScore - 0.931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Използване на граф на знанието  + BioBART</a:t>
            </a:r>
            <a:endParaRPr/>
          </a:p>
        </p:txBody>
      </p:sp>
      <p:sp>
        <p:nvSpPr>
          <p:cNvPr id="259" name="Google Shape;259;p39"/>
          <p:cNvSpPr txBox="1"/>
          <p:nvPr>
            <p:ph idx="1" type="body"/>
          </p:nvPr>
        </p:nvSpPr>
        <p:spPr>
          <a:xfrm>
            <a:off x="729450" y="1853850"/>
            <a:ext cx="7932300" cy="32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bg" sz="1100"/>
              <a:t>ориентиран граф, създаден с NetworkX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bg" sz="1100"/>
              <a:t>използва </a:t>
            </a:r>
            <a:r>
              <a:rPr b="1" i="1" lang="bg" sz="1100"/>
              <a:t>SequenceMatcher</a:t>
            </a:r>
            <a:r>
              <a:rPr b="1" lang="bg" sz="1100"/>
              <a:t> </a:t>
            </a:r>
            <a:r>
              <a:rPr lang="bg" sz="1100"/>
              <a:t>за търсене на двойки чрез разликите между двете изречения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bg" sz="1100"/>
              <a:t>граф → речник от термини → намиране на термини в изречение → добавяне към prompt → обучение/генериране</a:t>
            </a:r>
            <a:endParaRPr sz="11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3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bg" sz="1000"/>
              <a:t>резултати: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bg" sz="1000">
                <a:solidFill>
                  <a:schemeClr val="dk1"/>
                </a:solidFill>
              </a:rPr>
              <a:t>SARI - 30.40</a:t>
            </a:r>
            <a:endParaRPr b="1" sz="1000">
              <a:solidFill>
                <a:schemeClr val="dk1"/>
              </a:solidFill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bg" sz="1000">
                <a:solidFill>
                  <a:schemeClr val="dk1"/>
                </a:solidFill>
              </a:rPr>
              <a:t>BLEU - 32.64</a:t>
            </a:r>
            <a:endParaRPr b="1" sz="1000">
              <a:solidFill>
                <a:schemeClr val="dk1"/>
              </a:solidFill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bg" sz="1000">
                <a:solidFill>
                  <a:schemeClr val="dk1"/>
                </a:solidFill>
              </a:rPr>
              <a:t>BERTScore - 0.928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bg" sz="1000"/>
              <a:t>резултати с помощта на графа: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bg" sz="1000">
                <a:solidFill>
                  <a:schemeClr val="dk1"/>
                </a:solidFill>
              </a:rPr>
              <a:t>SARI -36.72 </a:t>
            </a:r>
            <a:endParaRPr b="1" sz="1000">
              <a:solidFill>
                <a:schemeClr val="dk1"/>
              </a:solidFill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bg" sz="1000">
                <a:solidFill>
                  <a:schemeClr val="dk1"/>
                </a:solidFill>
              </a:rPr>
              <a:t>BLEU - 29.12</a:t>
            </a:r>
            <a:endParaRPr b="1" sz="1000">
              <a:solidFill>
                <a:schemeClr val="dk1"/>
              </a:solidFill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bg" sz="1000">
                <a:solidFill>
                  <a:schemeClr val="dk1"/>
                </a:solidFill>
              </a:rPr>
              <a:t>BERTScore - 0.922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bg" sz="1000"/>
              <a:t>резултати без него: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bg" sz="1000">
                <a:solidFill>
                  <a:schemeClr val="dk1"/>
                </a:solidFill>
              </a:rPr>
              <a:t>SARI - 30.62 </a:t>
            </a:r>
            <a:endParaRPr b="1" sz="1000">
              <a:solidFill>
                <a:schemeClr val="dk1"/>
              </a:solidFill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bg" sz="1000">
                <a:solidFill>
                  <a:schemeClr val="dk1"/>
                </a:solidFill>
              </a:rPr>
              <a:t>BLEU - 33.48</a:t>
            </a:r>
            <a:endParaRPr b="1" sz="1000">
              <a:solidFill>
                <a:schemeClr val="dk1"/>
              </a:solidFill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bg" sz="1000">
                <a:solidFill>
                  <a:schemeClr val="dk1"/>
                </a:solidFill>
              </a:rPr>
              <a:t>BERTScore - 0.930</a:t>
            </a:r>
            <a:endParaRPr b="1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0" title="76984c16-fd37-42e4-b0fa-683e52c1daab.png"/>
          <p:cNvPicPr preferRelativeResize="0"/>
          <p:nvPr/>
        </p:nvPicPr>
        <p:blipFill rotWithShape="1">
          <a:blip r:embed="rId3">
            <a:alphaModFix/>
          </a:blip>
          <a:srcRect b="48149" l="0" r="0" t="0"/>
          <a:stretch/>
        </p:blipFill>
        <p:spPr>
          <a:xfrm>
            <a:off x="1766450" y="545299"/>
            <a:ext cx="7377549" cy="459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41" title="ChatGPT Image 5.05.2026 г., 16_04_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650" y="1596450"/>
            <a:ext cx="7636849" cy="30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42"/>
          <p:cNvPicPr preferRelativeResize="0"/>
          <p:nvPr/>
        </p:nvPicPr>
        <p:blipFill rotWithShape="1">
          <a:blip r:embed="rId3">
            <a:alphaModFix/>
          </a:blip>
          <a:srcRect b="4337" l="1340" r="-1340" t="-8352"/>
          <a:stretch/>
        </p:blipFill>
        <p:spPr>
          <a:xfrm>
            <a:off x="2112825" y="110600"/>
            <a:ext cx="7031174" cy="50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43" title="image.png"/>
          <p:cNvPicPr preferRelativeResize="0"/>
          <p:nvPr/>
        </p:nvPicPr>
        <p:blipFill rotWithShape="1">
          <a:blip r:embed="rId3">
            <a:alphaModFix/>
          </a:blip>
          <a:srcRect b="0" l="0" r="0" t="7749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Подходи и резултати към задача 1.2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LLM базов модел Llama 3.1 8B </a:t>
            </a:r>
            <a:endParaRPr/>
          </a:p>
        </p:txBody>
      </p:sp>
      <p:sp>
        <p:nvSpPr>
          <p:cNvPr id="290" name="Google Shape;290;p45"/>
          <p:cNvSpPr txBox="1"/>
          <p:nvPr>
            <p:ph idx="1" type="body"/>
          </p:nvPr>
        </p:nvSpPr>
        <p:spPr>
          <a:xfrm>
            <a:off x="729450" y="2078875"/>
            <a:ext cx="78603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bg" sz="1500"/>
              <a:t>съвременен свободно достъпен голям езиков decoder-only модел с добри резултати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bg" sz="1500"/>
              <a:t>отправна точка за сравнение с дообучените модели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bg" sz="1500"/>
              <a:t>на модела се подава инструкция (prompt)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bg" sz="1500"/>
              <a:t>локално изпълнение</a:t>
            </a:r>
            <a:endParaRPr sz="1500">
              <a:solidFill>
                <a:schemeClr val="accent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bg" sz="1500"/>
              <a:t>резултати:</a:t>
            </a:r>
            <a:endParaRPr sz="1500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bg" sz="1500">
                <a:solidFill>
                  <a:schemeClr val="dk1"/>
                </a:solidFill>
              </a:rPr>
              <a:t>SARI - 36.565</a:t>
            </a:r>
            <a:endParaRPr b="1" sz="1500">
              <a:solidFill>
                <a:schemeClr val="dk1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bg" sz="1500">
                <a:solidFill>
                  <a:schemeClr val="dk1"/>
                </a:solidFill>
              </a:rPr>
              <a:t>BLEU - 7.022</a:t>
            </a:r>
            <a:endParaRPr b="1" sz="1500">
              <a:solidFill>
                <a:schemeClr val="dk1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bg" sz="1500">
                <a:solidFill>
                  <a:schemeClr val="dk1"/>
                </a:solidFill>
              </a:rPr>
              <a:t>BERTScore - 0.858</a:t>
            </a:r>
            <a:endParaRPr b="1"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BioBART</a:t>
            </a:r>
            <a:endParaRPr/>
          </a:p>
        </p:txBody>
      </p:sp>
      <p:sp>
        <p:nvSpPr>
          <p:cNvPr id="296" name="Google Shape;296;p46"/>
          <p:cNvSpPr txBox="1"/>
          <p:nvPr>
            <p:ph idx="1" type="body"/>
          </p:nvPr>
        </p:nvSpPr>
        <p:spPr>
          <a:xfrm>
            <a:off x="729450" y="1783775"/>
            <a:ext cx="8310600" cy="33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bg" sz="1500"/>
              <a:t>предварително обучен модел, адаптиран към биомедицински текстове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bg" sz="1500"/>
              <a:t>на модела се подава инструкция (prompt)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bg" sz="1500"/>
              <a:t>настройки:</a:t>
            </a:r>
            <a:endParaRPr sz="1500">
              <a:solidFill>
                <a:schemeClr val="accent3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bg" sz="1500"/>
              <a:t>резултати:</a:t>
            </a:r>
            <a:endParaRPr sz="1500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bg" sz="1500">
                <a:solidFill>
                  <a:schemeClr val="dk1"/>
                </a:solidFill>
              </a:rPr>
              <a:t>SARI - 39.565</a:t>
            </a:r>
            <a:endParaRPr b="1" sz="1500">
              <a:solidFill>
                <a:schemeClr val="dk1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bg" sz="1500">
                <a:solidFill>
                  <a:schemeClr val="dk1"/>
                </a:solidFill>
              </a:rPr>
              <a:t>BLEU - 27.221</a:t>
            </a:r>
            <a:endParaRPr b="1" sz="1500">
              <a:solidFill>
                <a:schemeClr val="dk1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bg" sz="1500">
                <a:solidFill>
                  <a:schemeClr val="dk1"/>
                </a:solidFill>
              </a:rPr>
              <a:t>BERTScore - 0.879</a:t>
            </a: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/>
          <p:nvPr>
            <p:ph idx="1" type="body"/>
          </p:nvPr>
        </p:nvSpPr>
        <p:spPr>
          <a:xfrm>
            <a:off x="727650" y="16711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1"/>
                </a:solidFill>
              </a:rPr>
              <a:t>H1:</a:t>
            </a:r>
            <a:r>
              <a:rPr b="1" lang="bg" sz="1600">
                <a:solidFill>
                  <a:schemeClr val="dk2"/>
                </a:solidFill>
              </a:rPr>
              <a:t> Дообучените върху биомедицински данни модели постигат по-добри ре-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зултати при опростяване на текст в сравнение с общо предназначени големи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езикови модели.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302" name="Google Shape;302;p47" title="D561D30D-1EBC-4A62-AB59-D649E948EEE2_4_5005_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050" y="2678325"/>
            <a:ext cx="5646701" cy="23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8"/>
          <p:cNvSpPr txBox="1"/>
          <p:nvPr>
            <p:ph idx="1" type="body"/>
          </p:nvPr>
        </p:nvSpPr>
        <p:spPr>
          <a:xfrm>
            <a:off x="727650" y="1697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1"/>
                </a:solidFill>
              </a:rPr>
              <a:t>H2: </a:t>
            </a:r>
            <a:r>
              <a:rPr b="1" lang="bg" sz="1600">
                <a:solidFill>
                  <a:schemeClr val="dk2"/>
                </a:solidFill>
              </a:rPr>
              <a:t>Използването на специализиран биомедицински модел (BioBART) води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до по-качествено опростяване на биомедицински текстове в сравнение с общ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Transformer-базиран модел (Flan-T5-base).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48" title="D561D30D-1EBC-4A62-AB59-D649E948EEE2_4_5005_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9525" y="2934050"/>
            <a:ext cx="4701000" cy="19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9"/>
          <p:cNvSpPr txBox="1"/>
          <p:nvPr>
            <p:ph idx="1" type="body"/>
          </p:nvPr>
        </p:nvSpPr>
        <p:spPr>
          <a:xfrm>
            <a:off x="877725" y="17065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accent3"/>
                </a:solidFill>
              </a:rPr>
              <a:t>H3:</a:t>
            </a:r>
            <a:r>
              <a:rPr b="1" lang="bg" sz="1600">
                <a:solidFill>
                  <a:schemeClr val="dk2"/>
                </a:solidFill>
              </a:rPr>
              <a:t> Включването на допълнителни знания под формата на граф от понятия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подобрява качеството на лексикалното опростяване и води до по-високи стой-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ности на метриката SARI.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49" title="D561D30D-1EBC-4A62-AB59-D649E948EEE2_4_5005_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625" y="2960775"/>
            <a:ext cx="4840000" cy="1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0"/>
          <p:cNvSpPr txBox="1"/>
          <p:nvPr>
            <p:ph idx="1" type="body"/>
          </p:nvPr>
        </p:nvSpPr>
        <p:spPr>
          <a:xfrm>
            <a:off x="727650" y="16892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accent3"/>
                </a:solidFill>
              </a:rPr>
              <a:t>H4: </a:t>
            </a:r>
            <a:r>
              <a:rPr b="1" lang="bg" sz="1600">
                <a:solidFill>
                  <a:schemeClr val="dk2"/>
                </a:solidFill>
              </a:rPr>
              <a:t>Разделянето на задачата на последователни операции за опростяване (из-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триване, преформулиране, разделяне и запазване) има потенциал да подобри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резултатите спрямо директното генериране на опростен текст.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50" title="D561D30D-1EBC-4A62-AB59-D649E948EEE2_4_5005_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725" y="2988575"/>
            <a:ext cx="4840000" cy="1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1"/>
          <p:cNvSpPr txBox="1"/>
          <p:nvPr>
            <p:ph idx="1" type="body"/>
          </p:nvPr>
        </p:nvSpPr>
        <p:spPr>
          <a:xfrm>
            <a:off x="727650" y="17758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1"/>
                </a:solidFill>
              </a:rPr>
              <a:t>H5: </a:t>
            </a:r>
            <a:r>
              <a:rPr b="1" lang="bg" sz="1600">
                <a:solidFill>
                  <a:schemeClr val="dk2"/>
                </a:solidFill>
              </a:rPr>
              <a:t>Съществува компромис между степента на опростяване и запазването на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съдържанието. Подходите, които постигат по-високи стойности на SARI чрез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по-агресивни редакции, могат да доведат до по-ниски стойности на BLEU и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BERTScore поради отдалечаване от оригиналния текст и референтното опрос-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тяване.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6" name="Google Shape;326;p51" title="D561D30D-1EBC-4A62-AB59-D649E948EEE2_4_5005_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217650"/>
            <a:ext cx="4209799" cy="17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 txBox="1"/>
          <p:nvPr>
            <p:ph idx="1" type="body"/>
          </p:nvPr>
        </p:nvSpPr>
        <p:spPr>
          <a:xfrm>
            <a:off x="727650" y="17758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1"/>
                </a:solidFill>
              </a:rPr>
              <a:t>H6: </a:t>
            </a:r>
            <a:r>
              <a:rPr b="1" lang="bg" sz="1600">
                <a:solidFill>
                  <a:schemeClr val="dk2"/>
                </a:solidFill>
              </a:rPr>
              <a:t>При многоетапните архитектури качеството на класификацията на операциите за опростяване е основният фактор, определящ крайното качество на генерирания текст.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52" title="D561D30D-1EBC-4A62-AB59-D649E948EEE2_4_5005_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3225" y="2923700"/>
            <a:ext cx="4840000" cy="1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3"/>
          <p:cNvSpPr txBox="1"/>
          <p:nvPr>
            <p:ph idx="1" type="body"/>
          </p:nvPr>
        </p:nvSpPr>
        <p:spPr>
          <a:xfrm>
            <a:off x="727650" y="17758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accent3"/>
                </a:solidFill>
              </a:rPr>
              <a:t>H7: </a:t>
            </a:r>
            <a:r>
              <a:rPr b="1" lang="bg" sz="1600">
                <a:solidFill>
                  <a:schemeClr val="dk2"/>
                </a:solidFill>
              </a:rPr>
              <a:t>Добавянето на контекст на ниво документ не води непременно до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по-добро качество на опростяването в сравнение с опростяването на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600">
                <a:solidFill>
                  <a:schemeClr val="dk2"/>
                </a:solidFill>
              </a:rPr>
              <a:t> отделни изречения.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53" title="D561D30D-1EBC-4A62-AB59-D649E948EEE2_4_5005_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54136"/>
            <a:ext cx="5116899" cy="2085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3" title="Image 27.06.26 at 23.21.png"/>
          <p:cNvPicPr preferRelativeResize="0"/>
          <p:nvPr/>
        </p:nvPicPr>
        <p:blipFill rotWithShape="1">
          <a:blip r:embed="rId4">
            <a:alphaModFix/>
          </a:blip>
          <a:srcRect b="0" l="0" r="27730" t="0"/>
          <a:stretch/>
        </p:blipFill>
        <p:spPr>
          <a:xfrm>
            <a:off x="4693200" y="3670500"/>
            <a:ext cx="4159851" cy="12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Обобщение</a:t>
            </a:r>
            <a:endParaRPr/>
          </a:p>
        </p:txBody>
      </p:sp>
      <p:pic>
        <p:nvPicPr>
          <p:cNvPr id="345" name="Google Shape;345;p54" title="D561D30D-1EBC-4A62-AB59-D649E948EEE2_4_5005_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5775" y="2686425"/>
            <a:ext cx="6028225" cy="24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4" title="Image 27.06.26 at 23.21.png"/>
          <p:cNvPicPr preferRelativeResize="0"/>
          <p:nvPr/>
        </p:nvPicPr>
        <p:blipFill rotWithShape="1">
          <a:blip r:embed="rId4">
            <a:alphaModFix/>
          </a:blip>
          <a:srcRect b="0" l="0" r="27730" t="0"/>
          <a:stretch/>
        </p:blipFill>
        <p:spPr>
          <a:xfrm>
            <a:off x="4119263" y="968938"/>
            <a:ext cx="4159851" cy="12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Бъдеща работа</a:t>
            </a:r>
            <a:endParaRPr/>
          </a:p>
        </p:txBody>
      </p:sp>
      <p:sp>
        <p:nvSpPr>
          <p:cNvPr id="352" name="Google Shape;352;p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